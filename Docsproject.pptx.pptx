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7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2DE385-DE9C-4813-A986-E9C09EBC3FBE}" v="46" dt="2026-04-04T07:55:10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H ENIYAN" userId="05c043568c55893c" providerId="LiveId" clId="{37A1BA54-1D71-44C0-B869-281D40C61D54}"/>
    <pc:docChg chg="custSel addSld modSld sldOrd">
      <pc:chgData name="ANANDH ENIYAN" userId="05c043568c55893c" providerId="LiveId" clId="{37A1BA54-1D71-44C0-B869-281D40C61D54}" dt="2026-04-06T07:23:40.699" v="165" actId="20577"/>
      <pc:docMkLst>
        <pc:docMk/>
      </pc:docMkLst>
      <pc:sldChg chg="modSp mod">
        <pc:chgData name="ANANDH ENIYAN" userId="05c043568c55893c" providerId="LiveId" clId="{37A1BA54-1D71-44C0-B869-281D40C61D54}" dt="2026-04-04T07:45:21.584" v="58" actId="14100"/>
        <pc:sldMkLst>
          <pc:docMk/>
          <pc:sldMk cId="2782259195" sldId="257"/>
        </pc:sldMkLst>
        <pc:spChg chg="mod">
          <ac:chgData name="ANANDH ENIYAN" userId="05c043568c55893c" providerId="LiveId" clId="{37A1BA54-1D71-44C0-B869-281D40C61D54}" dt="2026-04-04T07:45:21.584" v="58" actId="14100"/>
          <ac:spMkLst>
            <pc:docMk/>
            <pc:sldMk cId="2782259195" sldId="257"/>
            <ac:spMk id="3" creationId="{D942D098-3F54-6861-3A8F-7BA6D5BEE066}"/>
          </ac:spMkLst>
        </pc:spChg>
      </pc:sldChg>
      <pc:sldChg chg="modSp mod">
        <pc:chgData name="ANANDH ENIYAN" userId="05c043568c55893c" providerId="LiveId" clId="{37A1BA54-1D71-44C0-B869-281D40C61D54}" dt="2026-04-04T07:46:10.523" v="65"/>
        <pc:sldMkLst>
          <pc:docMk/>
          <pc:sldMk cId="4261328026" sldId="259"/>
        </pc:sldMkLst>
        <pc:spChg chg="mod">
          <ac:chgData name="ANANDH ENIYAN" userId="05c043568c55893c" providerId="LiveId" clId="{37A1BA54-1D71-44C0-B869-281D40C61D54}" dt="2026-04-04T07:46:10.523" v="65"/>
          <ac:spMkLst>
            <pc:docMk/>
            <pc:sldMk cId="4261328026" sldId="259"/>
            <ac:spMk id="3" creationId="{8D329706-C881-6E05-8267-D994C316B7B7}"/>
          </ac:spMkLst>
        </pc:spChg>
      </pc:sldChg>
      <pc:sldChg chg="modSp mod">
        <pc:chgData name="ANANDH ENIYAN" userId="05c043568c55893c" providerId="LiveId" clId="{37A1BA54-1D71-44C0-B869-281D40C61D54}" dt="2026-04-04T07:47:00.436" v="71"/>
        <pc:sldMkLst>
          <pc:docMk/>
          <pc:sldMk cId="2006612950" sldId="261"/>
        </pc:sldMkLst>
        <pc:spChg chg="mod">
          <ac:chgData name="ANANDH ENIYAN" userId="05c043568c55893c" providerId="LiveId" clId="{37A1BA54-1D71-44C0-B869-281D40C61D54}" dt="2026-04-04T07:47:00.436" v="71"/>
          <ac:spMkLst>
            <pc:docMk/>
            <pc:sldMk cId="2006612950" sldId="261"/>
            <ac:spMk id="3" creationId="{E304A67A-327E-00CA-6A83-CE25A0CAB1A6}"/>
          </ac:spMkLst>
        </pc:spChg>
      </pc:sldChg>
      <pc:sldChg chg="modSp mod">
        <pc:chgData name="ANANDH ENIYAN" userId="05c043568c55893c" providerId="LiveId" clId="{37A1BA54-1D71-44C0-B869-281D40C61D54}" dt="2026-04-04T07:47:38.380" v="74" actId="14100"/>
        <pc:sldMkLst>
          <pc:docMk/>
          <pc:sldMk cId="4190778131" sldId="262"/>
        </pc:sldMkLst>
        <pc:spChg chg="mod">
          <ac:chgData name="ANANDH ENIYAN" userId="05c043568c55893c" providerId="LiveId" clId="{37A1BA54-1D71-44C0-B869-281D40C61D54}" dt="2026-04-04T07:47:38.380" v="74" actId="14100"/>
          <ac:spMkLst>
            <pc:docMk/>
            <pc:sldMk cId="4190778131" sldId="262"/>
            <ac:spMk id="3" creationId="{AEACA333-1661-57A5-D0CE-3A4F25E6EA69}"/>
          </ac:spMkLst>
        </pc:spChg>
      </pc:sldChg>
      <pc:sldChg chg="modSp mod">
        <pc:chgData name="ANANDH ENIYAN" userId="05c043568c55893c" providerId="LiveId" clId="{37A1BA54-1D71-44C0-B869-281D40C61D54}" dt="2026-04-04T07:48:08.581" v="77" actId="14100"/>
        <pc:sldMkLst>
          <pc:docMk/>
          <pc:sldMk cId="1315961622" sldId="263"/>
        </pc:sldMkLst>
        <pc:spChg chg="mod">
          <ac:chgData name="ANANDH ENIYAN" userId="05c043568c55893c" providerId="LiveId" clId="{37A1BA54-1D71-44C0-B869-281D40C61D54}" dt="2026-04-04T07:48:08.581" v="77" actId="14100"/>
          <ac:spMkLst>
            <pc:docMk/>
            <pc:sldMk cId="1315961622" sldId="263"/>
            <ac:spMk id="3" creationId="{572374D8-AD58-4EE2-63FF-3721892149D5}"/>
          </ac:spMkLst>
        </pc:spChg>
      </pc:sldChg>
      <pc:sldChg chg="modSp mod">
        <pc:chgData name="ANANDH ENIYAN" userId="05c043568c55893c" providerId="LiveId" clId="{37A1BA54-1D71-44C0-B869-281D40C61D54}" dt="2026-04-04T07:48:34.882" v="80" actId="14100"/>
        <pc:sldMkLst>
          <pc:docMk/>
          <pc:sldMk cId="1870448133" sldId="264"/>
        </pc:sldMkLst>
        <pc:spChg chg="mod">
          <ac:chgData name="ANANDH ENIYAN" userId="05c043568c55893c" providerId="LiveId" clId="{37A1BA54-1D71-44C0-B869-281D40C61D54}" dt="2026-04-04T07:48:34.882" v="80" actId="14100"/>
          <ac:spMkLst>
            <pc:docMk/>
            <pc:sldMk cId="1870448133" sldId="264"/>
            <ac:spMk id="3" creationId="{BB03E71C-7F32-39F4-E179-E626A5DED9FF}"/>
          </ac:spMkLst>
        </pc:spChg>
      </pc:sldChg>
      <pc:sldChg chg="modSp mod">
        <pc:chgData name="ANANDH ENIYAN" userId="05c043568c55893c" providerId="LiveId" clId="{37A1BA54-1D71-44C0-B869-281D40C61D54}" dt="2026-04-04T07:49:15.305" v="85" actId="1076"/>
        <pc:sldMkLst>
          <pc:docMk/>
          <pc:sldMk cId="3031043294" sldId="265"/>
        </pc:sldMkLst>
        <pc:spChg chg="mod">
          <ac:chgData name="ANANDH ENIYAN" userId="05c043568c55893c" providerId="LiveId" clId="{37A1BA54-1D71-44C0-B869-281D40C61D54}" dt="2026-04-04T07:49:15.305" v="85" actId="1076"/>
          <ac:spMkLst>
            <pc:docMk/>
            <pc:sldMk cId="3031043294" sldId="265"/>
            <ac:spMk id="3" creationId="{09CBE256-08DA-5503-7C58-838AC2C48B31}"/>
          </ac:spMkLst>
        </pc:spChg>
      </pc:sldChg>
      <pc:sldChg chg="modSp mod">
        <pc:chgData name="ANANDH ENIYAN" userId="05c043568c55893c" providerId="LiveId" clId="{37A1BA54-1D71-44C0-B869-281D40C61D54}" dt="2026-04-04T07:50:25.502" v="91" actId="1076"/>
        <pc:sldMkLst>
          <pc:docMk/>
          <pc:sldMk cId="3143590197" sldId="267"/>
        </pc:sldMkLst>
        <pc:spChg chg="mod">
          <ac:chgData name="ANANDH ENIYAN" userId="05c043568c55893c" providerId="LiveId" clId="{37A1BA54-1D71-44C0-B869-281D40C61D54}" dt="2026-04-04T07:50:25.502" v="91" actId="1076"/>
          <ac:spMkLst>
            <pc:docMk/>
            <pc:sldMk cId="3143590197" sldId="267"/>
            <ac:spMk id="3" creationId="{DEC292C4-9340-6A35-C653-2171890CE802}"/>
          </ac:spMkLst>
        </pc:spChg>
      </pc:sldChg>
      <pc:sldChg chg="modSp mod">
        <pc:chgData name="ANANDH ENIYAN" userId="05c043568c55893c" providerId="LiveId" clId="{37A1BA54-1D71-44C0-B869-281D40C61D54}" dt="2026-04-04T07:51:07.131" v="95" actId="113"/>
        <pc:sldMkLst>
          <pc:docMk/>
          <pc:sldMk cId="2006249831" sldId="268"/>
        </pc:sldMkLst>
        <pc:spChg chg="mod">
          <ac:chgData name="ANANDH ENIYAN" userId="05c043568c55893c" providerId="LiveId" clId="{37A1BA54-1D71-44C0-B869-281D40C61D54}" dt="2026-04-04T07:51:07.131" v="95" actId="113"/>
          <ac:spMkLst>
            <pc:docMk/>
            <pc:sldMk cId="2006249831" sldId="268"/>
            <ac:spMk id="3" creationId="{F23E2B8B-F1EA-475E-3A69-AB5C6B75E755}"/>
          </ac:spMkLst>
        </pc:spChg>
      </pc:sldChg>
      <pc:sldChg chg="modSp mod">
        <pc:chgData name="ANANDH ENIYAN" userId="05c043568c55893c" providerId="LiveId" clId="{37A1BA54-1D71-44C0-B869-281D40C61D54}" dt="2026-04-04T07:51:47.754" v="99" actId="14100"/>
        <pc:sldMkLst>
          <pc:docMk/>
          <pc:sldMk cId="717785917" sldId="270"/>
        </pc:sldMkLst>
        <pc:spChg chg="mod">
          <ac:chgData name="ANANDH ENIYAN" userId="05c043568c55893c" providerId="LiveId" clId="{37A1BA54-1D71-44C0-B869-281D40C61D54}" dt="2026-04-04T07:51:47.754" v="99" actId="14100"/>
          <ac:spMkLst>
            <pc:docMk/>
            <pc:sldMk cId="717785917" sldId="270"/>
            <ac:spMk id="3" creationId="{4FD7DE2C-790F-E146-260A-DB893846526E}"/>
          </ac:spMkLst>
        </pc:spChg>
      </pc:sldChg>
      <pc:sldChg chg="addSp delSp modSp mod">
        <pc:chgData name="ANANDH ENIYAN" userId="05c043568c55893c" providerId="LiveId" clId="{37A1BA54-1D71-44C0-B869-281D40C61D54}" dt="2026-04-06T07:23:06.415" v="162" actId="20577"/>
        <pc:sldMkLst>
          <pc:docMk/>
          <pc:sldMk cId="3205234066" sldId="271"/>
        </pc:sldMkLst>
        <pc:spChg chg="mod">
          <ac:chgData name="ANANDH ENIYAN" userId="05c043568c55893c" providerId="LiveId" clId="{37A1BA54-1D71-44C0-B869-281D40C61D54}" dt="2026-04-06T07:23:06.415" v="162" actId="20577"/>
          <ac:spMkLst>
            <pc:docMk/>
            <pc:sldMk cId="3205234066" sldId="271"/>
            <ac:spMk id="7" creationId="{F47B6E46-AE1D-6385-FB66-BED316D67574}"/>
          </ac:spMkLst>
        </pc:spChg>
        <pc:spChg chg="add mod">
          <ac:chgData name="ANANDH ENIYAN" userId="05c043568c55893c" providerId="LiveId" clId="{37A1BA54-1D71-44C0-B869-281D40C61D54}" dt="2026-04-04T07:43:38.196" v="33" actId="2711"/>
          <ac:spMkLst>
            <pc:docMk/>
            <pc:sldMk cId="3205234066" sldId="271"/>
            <ac:spMk id="8" creationId="{DDDC8488-647D-8C31-3468-7E4CCAA623D1}"/>
          </ac:spMkLst>
        </pc:spChg>
      </pc:sldChg>
      <pc:sldChg chg="modSp mod">
        <pc:chgData name="ANANDH ENIYAN" userId="05c043568c55893c" providerId="LiveId" clId="{37A1BA54-1D71-44C0-B869-281D40C61D54}" dt="2026-04-04T07:52:20.956" v="102" actId="122"/>
        <pc:sldMkLst>
          <pc:docMk/>
          <pc:sldMk cId="1191032651" sldId="272"/>
        </pc:sldMkLst>
        <pc:spChg chg="mod">
          <ac:chgData name="ANANDH ENIYAN" userId="05c043568c55893c" providerId="LiveId" clId="{37A1BA54-1D71-44C0-B869-281D40C61D54}" dt="2026-04-04T07:52:20.956" v="102" actId="122"/>
          <ac:spMkLst>
            <pc:docMk/>
            <pc:sldMk cId="1191032651" sldId="272"/>
            <ac:spMk id="3" creationId="{64208761-83F8-15E6-967A-E2B848A0360A}"/>
          </ac:spMkLst>
        </pc:spChg>
      </pc:sldChg>
      <pc:sldChg chg="ord">
        <pc:chgData name="ANANDH ENIYAN" userId="05c043568c55893c" providerId="LiveId" clId="{37A1BA54-1D71-44C0-B869-281D40C61D54}" dt="2026-04-04T07:54:27.882" v="111"/>
        <pc:sldMkLst>
          <pc:docMk/>
          <pc:sldMk cId="2208774423" sldId="273"/>
        </pc:sldMkLst>
      </pc:sldChg>
      <pc:sldChg chg="addSp modSp mod ord">
        <pc:chgData name="ANANDH ENIYAN" userId="05c043568c55893c" providerId="LiveId" clId="{37A1BA54-1D71-44C0-B869-281D40C61D54}" dt="2026-04-06T07:23:40.699" v="165" actId="20577"/>
        <pc:sldMkLst>
          <pc:docMk/>
          <pc:sldMk cId="330463816" sldId="274"/>
        </pc:sldMkLst>
        <pc:spChg chg="mod">
          <ac:chgData name="ANANDH ENIYAN" userId="05c043568c55893c" providerId="LiveId" clId="{37A1BA54-1D71-44C0-B869-281D40C61D54}" dt="2026-04-04T07:53:11.669" v="106"/>
          <ac:spMkLst>
            <pc:docMk/>
            <pc:sldMk cId="330463816" sldId="274"/>
            <ac:spMk id="3" creationId="{03936289-29BC-8E0F-99F8-FE60E4EC07E9}"/>
          </ac:spMkLst>
        </pc:spChg>
        <pc:spChg chg="mod">
          <ac:chgData name="ANANDH ENIYAN" userId="05c043568c55893c" providerId="LiveId" clId="{37A1BA54-1D71-44C0-B869-281D40C61D54}" dt="2026-04-04T07:53:24.052" v="108" actId="113"/>
          <ac:spMkLst>
            <pc:docMk/>
            <pc:sldMk cId="330463816" sldId="274"/>
            <ac:spMk id="4" creationId="{0DF3193C-CCAB-6F20-943D-0A24B810A4FF}"/>
          </ac:spMkLst>
        </pc:spChg>
        <pc:spChg chg="mod">
          <ac:chgData name="ANANDH ENIYAN" userId="05c043568c55893c" providerId="LiveId" clId="{37A1BA54-1D71-44C0-B869-281D40C61D54}" dt="2026-04-04T07:53:11.669" v="106"/>
          <ac:spMkLst>
            <pc:docMk/>
            <pc:sldMk cId="330463816" sldId="274"/>
            <ac:spMk id="5" creationId="{041799EE-3BFE-6429-6122-BD9064DC6648}"/>
          </ac:spMkLst>
        </pc:spChg>
        <pc:spChg chg="mod">
          <ac:chgData name="ANANDH ENIYAN" userId="05c043568c55893c" providerId="LiveId" clId="{37A1BA54-1D71-44C0-B869-281D40C61D54}" dt="2026-04-06T07:23:40.699" v="165" actId="20577"/>
          <ac:spMkLst>
            <pc:docMk/>
            <pc:sldMk cId="330463816" sldId="274"/>
            <ac:spMk id="6" creationId="{224F24B8-A546-7227-4E2F-BCC3A968595D}"/>
          </ac:spMkLst>
        </pc:spChg>
        <pc:spChg chg="mod">
          <ac:chgData name="ANANDH ENIYAN" userId="05c043568c55893c" providerId="LiveId" clId="{37A1BA54-1D71-44C0-B869-281D40C61D54}" dt="2026-04-04T07:53:20.047" v="107" actId="113"/>
          <ac:spMkLst>
            <pc:docMk/>
            <pc:sldMk cId="330463816" sldId="274"/>
            <ac:spMk id="7" creationId="{221F20DE-CAB8-E2B4-EEDC-12FDB0B2ADE2}"/>
          </ac:spMkLst>
        </pc:spChg>
        <pc:spChg chg="mod">
          <ac:chgData name="ANANDH ENIYAN" userId="05c043568c55893c" providerId="LiveId" clId="{37A1BA54-1D71-44C0-B869-281D40C61D54}" dt="2026-04-04T07:53:11.669" v="106"/>
          <ac:spMkLst>
            <pc:docMk/>
            <pc:sldMk cId="330463816" sldId="274"/>
            <ac:spMk id="8" creationId="{75D298A1-EBE6-7824-8D4F-BF0A12CB788B}"/>
          </ac:spMkLst>
        </pc:spChg>
        <pc:spChg chg="mod">
          <ac:chgData name="ANANDH ENIYAN" userId="05c043568c55893c" providerId="LiveId" clId="{37A1BA54-1D71-44C0-B869-281D40C61D54}" dt="2026-04-04T07:53:11.669" v="106"/>
          <ac:spMkLst>
            <pc:docMk/>
            <pc:sldMk cId="330463816" sldId="274"/>
            <ac:spMk id="9" creationId="{2945A2FB-0A1E-A5FB-52AB-0E02F2188B33}"/>
          </ac:spMkLst>
        </pc:spChg>
        <pc:spChg chg="mod">
          <ac:chgData name="ANANDH ENIYAN" userId="05c043568c55893c" providerId="LiveId" clId="{37A1BA54-1D71-44C0-B869-281D40C61D54}" dt="2026-04-04T07:53:11.669" v="106"/>
          <ac:spMkLst>
            <pc:docMk/>
            <pc:sldMk cId="330463816" sldId="274"/>
            <ac:spMk id="10" creationId="{50D3AEBD-9D5C-82BD-D498-843062C50DDE}"/>
          </ac:spMkLst>
        </pc:spChg>
        <pc:spChg chg="mod">
          <ac:chgData name="ANANDH ENIYAN" userId="05c043568c55893c" providerId="LiveId" clId="{37A1BA54-1D71-44C0-B869-281D40C61D54}" dt="2026-04-04T07:53:11.669" v="106"/>
          <ac:spMkLst>
            <pc:docMk/>
            <pc:sldMk cId="330463816" sldId="274"/>
            <ac:spMk id="11" creationId="{8768CD3F-9BB2-B2F6-7C6E-654A92397A3F}"/>
          </ac:spMkLst>
        </pc:spChg>
        <pc:grpChg chg="add mod">
          <ac:chgData name="ANANDH ENIYAN" userId="05c043568c55893c" providerId="LiveId" clId="{37A1BA54-1D71-44C0-B869-281D40C61D54}" dt="2026-04-04T07:53:11.669" v="106"/>
          <ac:grpSpMkLst>
            <pc:docMk/>
            <pc:sldMk cId="330463816" sldId="274"/>
            <ac:grpSpMk id="2" creationId="{DDC5DFFC-1517-D07F-EF6E-AA63AE3442FA}"/>
          </ac:grpSpMkLst>
        </pc:grpChg>
      </pc:sldChg>
      <pc:sldChg chg="addSp modSp new mod ord">
        <pc:chgData name="ANANDH ENIYAN" userId="05c043568c55893c" providerId="LiveId" clId="{37A1BA54-1D71-44C0-B869-281D40C61D54}" dt="2026-04-06T07:23:24.687" v="163" actId="1076"/>
        <pc:sldMkLst>
          <pc:docMk/>
          <pc:sldMk cId="323155549" sldId="276"/>
        </pc:sldMkLst>
        <pc:spChg chg="add mod">
          <ac:chgData name="ANANDH ENIYAN" userId="05c043568c55893c" providerId="LiveId" clId="{37A1BA54-1D71-44C0-B869-281D40C61D54}" dt="2026-04-04T07:56:29.807" v="124" actId="207"/>
          <ac:spMkLst>
            <pc:docMk/>
            <pc:sldMk cId="323155549" sldId="276"/>
            <ac:spMk id="2" creationId="{E0D23A2D-6336-29EE-66A7-C825773FC39D}"/>
          </ac:spMkLst>
        </pc:spChg>
        <pc:spChg chg="add mod">
          <ac:chgData name="ANANDH ENIYAN" userId="05c043568c55893c" providerId="LiveId" clId="{37A1BA54-1D71-44C0-B869-281D40C61D54}" dt="2026-04-06T07:23:24.687" v="163" actId="1076"/>
          <ac:spMkLst>
            <pc:docMk/>
            <pc:sldMk cId="323155549" sldId="276"/>
            <ac:spMk id="3" creationId="{B404EFE5-E15B-969E-3719-EE65EF9EF047}"/>
          </ac:spMkLst>
        </pc:spChg>
        <pc:spChg chg="add mod ord">
          <ac:chgData name="ANANDH ENIYAN" userId="05c043568c55893c" providerId="LiveId" clId="{37A1BA54-1D71-44C0-B869-281D40C61D54}" dt="2026-04-04T07:56:37.909" v="125" actId="207"/>
          <ac:spMkLst>
            <pc:docMk/>
            <pc:sldMk cId="323155549" sldId="276"/>
            <ac:spMk id="4" creationId="{AEB48352-BDB8-7E03-A63E-88B12AF351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00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153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87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3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508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92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125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9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500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58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211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177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28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70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718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667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15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3E140D-47CE-4FDD-A9F2-60EA527EC30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CCB2A9A-BE58-481D-BEE9-CBAA5C802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993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2C38AFE-B847-6356-9919-057479F96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32" y="679609"/>
            <a:ext cx="10689336" cy="1542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4A31EC0-963B-7DEF-EE0E-448959BEC1E8}"/>
              </a:ext>
            </a:extLst>
          </p:cNvPr>
          <p:cNvSpPr/>
          <p:nvPr/>
        </p:nvSpPr>
        <p:spPr>
          <a:xfrm>
            <a:off x="4526280" y="1892808"/>
            <a:ext cx="3182112" cy="265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8336A-22FD-FBD1-F8AB-52DF3940C1B6}"/>
              </a:ext>
            </a:extLst>
          </p:cNvPr>
          <p:cNvSpPr txBox="1"/>
          <p:nvPr/>
        </p:nvSpPr>
        <p:spPr>
          <a:xfrm>
            <a:off x="751332" y="2025396"/>
            <a:ext cx="10550652" cy="1340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ENERGY-EFFICIENT SIP-BASED VOIP INTERCOM SYSTEM FOR SMART BUILDING APPLICATIONS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28600"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PROJECT REPORT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0F97C-227B-549B-9107-04261E624BEE}"/>
              </a:ext>
            </a:extLst>
          </p:cNvPr>
          <p:cNvSpPr txBox="1"/>
          <p:nvPr/>
        </p:nvSpPr>
        <p:spPr>
          <a:xfrm>
            <a:off x="3159252" y="3429000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Presented By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B6E46-AE1D-6385-FB66-BED316D67574}"/>
              </a:ext>
            </a:extLst>
          </p:cNvPr>
          <p:cNvSpPr txBox="1"/>
          <p:nvPr/>
        </p:nvSpPr>
        <p:spPr>
          <a:xfrm>
            <a:off x="3443732" y="5015922"/>
            <a:ext cx="61173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b="1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Mrs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K. ISABELLA RANI M.E.,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Associate Professor</a:t>
            </a:r>
            <a:endParaRPr lang="en-IN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DC8488-647D-8C31-3468-7E4CCAA623D1}"/>
              </a:ext>
            </a:extLst>
          </p:cNvPr>
          <p:cNvSpPr txBox="1"/>
          <p:nvPr/>
        </p:nvSpPr>
        <p:spPr>
          <a:xfrm>
            <a:off x="4406900" y="3861761"/>
            <a:ext cx="38565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ARUN K 			912522106009</a:t>
            </a: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HARISHKUMAR V 	912522106014</a:t>
            </a: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MATHIARASAN 		912522106303</a:t>
            </a: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"/>
            <a:endParaRPr lang="en-IN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fontAlgn="b"/>
            <a:endParaRPr lang="en-IN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fontAlgn="b"/>
            <a:endParaRPr lang="en-IN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23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B48352-BDB8-7E03-A63E-88B12AF35139}"/>
              </a:ext>
            </a:extLst>
          </p:cNvPr>
          <p:cNvSpPr/>
          <p:nvPr/>
        </p:nvSpPr>
        <p:spPr>
          <a:xfrm>
            <a:off x="618067" y="626534"/>
            <a:ext cx="10972800" cy="56406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D23A2D-6336-29EE-66A7-C825773FC39D}"/>
              </a:ext>
            </a:extLst>
          </p:cNvPr>
          <p:cNvSpPr txBox="1"/>
          <p:nvPr/>
        </p:nvSpPr>
        <p:spPr>
          <a:xfrm>
            <a:off x="1926166" y="723901"/>
            <a:ext cx="8339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4EFE5-E15B-969E-3719-EE65EF9EF047}"/>
              </a:ext>
            </a:extLst>
          </p:cNvPr>
          <p:cNvSpPr txBox="1"/>
          <p:nvPr/>
        </p:nvSpPr>
        <p:spPr>
          <a:xfrm>
            <a:off x="919141" y="1400911"/>
            <a:ext cx="1054100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INTRODUCTION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PROJECT OBJECTIVES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LITERATURE REVIEW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COMMERCIAL SIP INTERCOMS (E.G., 2N, FANVIL)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SYSTEM ANALYSIS AND REQUIREMENTS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FULL-DUPLEX AUDIO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HARDWARE REQUIREMENTS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CLOUD PBX / SIP SERVER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PROPOSED SYSTEM 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SIP SIGNALLING AND MEDIA FLOW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IMPLEMENTATION AND SYSTEM INTEGRATION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SECURITY IMPLEMENTATION (TLS/SRTP FOR SECURE VOIP) 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SRTP (SECURE REAL-TIME TRANSPORT PROTOCOL)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TESTING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COMPARATIVE RESULTS: PROPOSED SYSTEM VS. STANDARD IP INTERCOMS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LIMITATIONS AND 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CONCLUSION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TIME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REFERENCES </a:t>
            </a:r>
            <a:endParaRPr lang="en-IN" sz="1600" dirty="0"/>
          </a:p>
          <a:p>
            <a:endParaRPr lang="en-IN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155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9EFAAD-2BDC-4152-E0B9-73BBEF025760}"/>
              </a:ext>
            </a:extLst>
          </p:cNvPr>
          <p:cNvSpPr txBox="1"/>
          <p:nvPr/>
        </p:nvSpPr>
        <p:spPr>
          <a:xfrm>
            <a:off x="2546604" y="728422"/>
            <a:ext cx="6117336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INTRODUCTION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6A51B-12F1-28B2-830F-38D7EA534DBF}"/>
              </a:ext>
            </a:extLst>
          </p:cNvPr>
          <p:cNvSpPr txBox="1"/>
          <p:nvPr/>
        </p:nvSpPr>
        <p:spPr>
          <a:xfrm>
            <a:off x="612648" y="1518128"/>
            <a:ext cx="10579608" cy="2956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 the landscape of modern smart buildings, communication systems have transitioned from closed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analog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circuits to open, internet-based architectures. The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Session Initiation Protocol (SIP)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is the industry-standard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signaling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protocol used for initiating, maintaining, and terminating real-time sessions that include voice, video, and messaging.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Voice over IP (VoIP)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leverages these protocols to transmit audio data as digital packets over Local Area Networks (LAN) or the Internet. In smart building applications, a SIP-based intercom acts as an edge device that integrates seamlessly with existing IP telephony, security cameras, and mobile devices, creating a unified communication ecosystem.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848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42D098-3F54-6861-3A8F-7BA6D5BEE066}"/>
              </a:ext>
            </a:extLst>
          </p:cNvPr>
          <p:cNvSpPr txBox="1"/>
          <p:nvPr/>
        </p:nvSpPr>
        <p:spPr>
          <a:xfrm>
            <a:off x="4704588" y="691846"/>
            <a:ext cx="3753612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PROJECT OBJECTIVES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1CA43-D3C9-A8AF-BA51-4B99AFF73260}"/>
              </a:ext>
            </a:extLst>
          </p:cNvPr>
          <p:cNvSpPr txBox="1"/>
          <p:nvPr/>
        </p:nvSpPr>
        <p:spPr>
          <a:xfrm>
            <a:off x="595884" y="1033272"/>
            <a:ext cx="11000232" cy="530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 primary objectives of this project are: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 design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a SIP-based intercom station using low-power embedded hardware (e.g., ESP32-S3 or ARM Cortex-M series).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 implement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an event-driven firmware architecture that allows the device to remain in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Deep Sleep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or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Light Sleep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until the call button is pressed.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 optimize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VoIP audio codecs (such as G.711 or Opus) to provide high-quality communication with minimal CPU processing cycles.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 develop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a mobile application interface that utilizes push notifications to "wake" the resident's device, ensuring energy efficiency on both ends of the call.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 evaluate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the power savings achieved by comparing the system's current draw against standard commercial IP intercoms.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259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B3C477-6CBB-913F-9091-25E4776253EE}"/>
              </a:ext>
            </a:extLst>
          </p:cNvPr>
          <p:cNvSpPr txBox="1"/>
          <p:nvPr/>
        </p:nvSpPr>
        <p:spPr>
          <a:xfrm>
            <a:off x="3037332" y="773922"/>
            <a:ext cx="611733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LITERATURE REVIEW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0D971-061A-8091-4CE5-33176EAF5F49}"/>
              </a:ext>
            </a:extLst>
          </p:cNvPr>
          <p:cNvSpPr txBox="1"/>
          <p:nvPr/>
        </p:nvSpPr>
        <p:spPr>
          <a:xfrm>
            <a:off x="685800" y="1625293"/>
            <a:ext cx="10533888" cy="2956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Intercom systems have transitioned through three distinct technological eras. The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Analog Era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relied on point-to-point hardwiring and high-voltage signals, which were simple but prone to electromagnetic interference and lacked scalability. The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Digital Era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introduced proprietary digital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signaling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over twisted-pair cables, allowing for better audio quality but locking users into specific manufacturers. The current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IP/VoIP Era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utilizes standardized networking protocols, enabling intercoms to function as nodes on a computer network. This evolution has shifted the focus from physical wiring to protocol efficiency and data management.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46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329706-C881-6E05-8267-D994C316B7B7}"/>
              </a:ext>
            </a:extLst>
          </p:cNvPr>
          <p:cNvSpPr txBox="1"/>
          <p:nvPr/>
        </p:nvSpPr>
        <p:spPr>
          <a:xfrm>
            <a:off x="548640" y="875833"/>
            <a:ext cx="10680192" cy="1812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COMMERCIAL SIP INTERCOMS (E.G., 2N, FANVIL)</a:t>
            </a:r>
          </a:p>
          <a:p>
            <a:pPr marL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These are feature-rich and robust but are often built on high-power Linux-based boards (like ARM Cortex-A series). They typically consume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5W–10W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even in standby mode, which is inefficient for large-scale green buildings.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Introduction of Fanvil SIP Intercom and Entry Security Endpoints">
            <a:extLst>
              <a:ext uri="{FF2B5EF4-FFF2-40B4-BE49-F238E27FC236}">
                <a16:creationId xmlns:a16="http://schemas.microsoft.com/office/drawing/2014/main" id="{7DF18638-1DC2-BB3D-084C-3A121C6F3E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79" b="38304"/>
          <a:stretch>
            <a:fillRect/>
          </a:stretch>
        </p:blipFill>
        <p:spPr bwMode="auto">
          <a:xfrm>
            <a:off x="899987" y="2770822"/>
            <a:ext cx="10379063" cy="251440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61328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A3D306-EC08-1B06-831B-90F4188123EA}"/>
              </a:ext>
            </a:extLst>
          </p:cNvPr>
          <p:cNvSpPr txBox="1"/>
          <p:nvPr/>
        </p:nvSpPr>
        <p:spPr>
          <a:xfrm>
            <a:off x="2912364" y="737346"/>
            <a:ext cx="611733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SYSTEM ANALYSIS AND REQUIREMENTS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D4996-39EF-A3AD-0B47-CDE7122A6FBA}"/>
              </a:ext>
            </a:extLst>
          </p:cNvPr>
          <p:cNvSpPr txBox="1"/>
          <p:nvPr/>
        </p:nvSpPr>
        <p:spPr>
          <a:xfrm>
            <a:off x="964692" y="1544801"/>
            <a:ext cx="6117336" cy="878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rtl="0">
              <a:lnSpc>
                <a:spcPct val="150000"/>
              </a:lnSpc>
              <a:spcAft>
                <a:spcPts val="800"/>
              </a:spcAft>
              <a:buSzPts val="1000"/>
              <a:tabLst>
                <a:tab pos="6858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SIP Registration: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The device must successfully register as a User Agent (UA) with a SIP registrar/server.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SIP Registration | VOCAL Technologies">
            <a:extLst>
              <a:ext uri="{FF2B5EF4-FFF2-40B4-BE49-F238E27FC236}">
                <a16:creationId xmlns:a16="http://schemas.microsoft.com/office/drawing/2014/main" id="{0CA6868B-6773-E8DF-B8D8-9DCDEDF8057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2" t="26541" r="5879" b="9503"/>
          <a:stretch>
            <a:fillRect/>
          </a:stretch>
        </p:blipFill>
        <p:spPr bwMode="auto">
          <a:xfrm>
            <a:off x="8330184" y="1544801"/>
            <a:ext cx="2488946" cy="20173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41A000-12F6-CD2F-0AE8-0E24F728B2E3}"/>
              </a:ext>
            </a:extLst>
          </p:cNvPr>
          <p:cNvSpPr txBox="1"/>
          <p:nvPr/>
        </p:nvSpPr>
        <p:spPr>
          <a:xfrm>
            <a:off x="736092" y="4189980"/>
            <a:ext cx="6117336" cy="1294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rtl="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Call Initiation &amp; Routing: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The system must initiate a VoIP call to a predefined extension or apartment number upon a physical button trigger.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5D45B4-BD7B-96E7-2C17-D031FB1215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225" y="3719576"/>
            <a:ext cx="2414905" cy="2235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4206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04A67A-327E-00CA-6A83-CE25A0CAB1A6}"/>
              </a:ext>
            </a:extLst>
          </p:cNvPr>
          <p:cNvSpPr txBox="1"/>
          <p:nvPr/>
        </p:nvSpPr>
        <p:spPr>
          <a:xfrm>
            <a:off x="809244" y="904721"/>
            <a:ext cx="9925812" cy="98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150000"/>
              </a:lnSpc>
              <a:spcAft>
                <a:spcPts val="800"/>
              </a:spcAft>
              <a:buSzPts val="1000"/>
              <a:tabLst>
                <a:tab pos="6858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FULL-DUPLEX AUDIO</a:t>
            </a:r>
          </a:p>
          <a:p>
            <a:pPr lvl="0" algn="just" rtl="0">
              <a:lnSpc>
                <a:spcPct val="150000"/>
              </a:lnSpc>
              <a:spcAft>
                <a:spcPts val="800"/>
              </a:spcAft>
              <a:buSzPts val="1000"/>
              <a:tabLst>
                <a:tab pos="6858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High-quality, simultaneous two-way voice communication between the visitor and the resident.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5F8837-9A47-74A6-CC8F-53E6BCF721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158" y="1993393"/>
            <a:ext cx="9775218" cy="30809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6612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ACA333-1661-57A5-D0CE-3A4F25E6EA69}"/>
              </a:ext>
            </a:extLst>
          </p:cNvPr>
          <p:cNvSpPr txBox="1"/>
          <p:nvPr/>
        </p:nvSpPr>
        <p:spPr>
          <a:xfrm>
            <a:off x="3759200" y="755634"/>
            <a:ext cx="3830320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HARDWARE REQUIREMENTS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6890A-E128-4CAF-AE91-AFF0F9645DB4}"/>
              </a:ext>
            </a:extLst>
          </p:cNvPr>
          <p:cNvSpPr txBox="1"/>
          <p:nvPr/>
        </p:nvSpPr>
        <p:spPr>
          <a:xfrm>
            <a:off x="-169164" y="1551382"/>
            <a:ext cx="6117336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Audio Codec: An I2S (Inter-IC Sound)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I2S Inter-IC Sound – Lonely Binary">
            <a:extLst>
              <a:ext uri="{FF2B5EF4-FFF2-40B4-BE49-F238E27FC236}">
                <a16:creationId xmlns:a16="http://schemas.microsoft.com/office/drawing/2014/main" id="{D9D4A337-2E92-85DE-B241-488531F734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756" y="1429384"/>
            <a:ext cx="1630299" cy="15278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51AC8C-26C8-5940-5E86-D29E7A38B7BF}"/>
              </a:ext>
            </a:extLst>
          </p:cNvPr>
          <p:cNvCxnSpPr/>
          <p:nvPr/>
        </p:nvCxnSpPr>
        <p:spPr>
          <a:xfrm>
            <a:off x="5239512" y="1901952"/>
            <a:ext cx="227685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C2709D7-8635-4795-EFA4-A96A3560AEA2}"/>
              </a:ext>
            </a:extLst>
          </p:cNvPr>
          <p:cNvSpPr txBox="1"/>
          <p:nvPr/>
        </p:nvSpPr>
        <p:spPr>
          <a:xfrm>
            <a:off x="1005840" y="3197301"/>
            <a:ext cx="2569464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MEMS Microphone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SEN0526, I2S MEMS Microphone Breakout, Low Noise, High Sensitivity, ESP32">
            <a:extLst>
              <a:ext uri="{FF2B5EF4-FFF2-40B4-BE49-F238E27FC236}">
                <a16:creationId xmlns:a16="http://schemas.microsoft.com/office/drawing/2014/main" id="{CFA1ECAA-CA9F-F448-9CDA-92057A8665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184" y="3328416"/>
            <a:ext cx="1763395" cy="11760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6E0EAD-B437-C731-4AF7-78FF67036F5B}"/>
              </a:ext>
            </a:extLst>
          </p:cNvPr>
          <p:cNvCxnSpPr/>
          <p:nvPr/>
        </p:nvCxnSpPr>
        <p:spPr>
          <a:xfrm>
            <a:off x="5239512" y="3560115"/>
            <a:ext cx="227685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778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2374D8-AD58-4EE2-63FF-3721892149D5}"/>
              </a:ext>
            </a:extLst>
          </p:cNvPr>
          <p:cNvSpPr txBox="1"/>
          <p:nvPr/>
        </p:nvSpPr>
        <p:spPr>
          <a:xfrm>
            <a:off x="4767833" y="802886"/>
            <a:ext cx="3419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CLOUD PBX / SIP SERVER</a:t>
            </a:r>
            <a:endParaRPr lang="en-IN" dirty="0"/>
          </a:p>
        </p:txBody>
      </p:sp>
      <p:pic>
        <p:nvPicPr>
          <p:cNvPr id="4" name="Picture 3" descr="Visual of Cloud Based PBX">
            <a:extLst>
              <a:ext uri="{FF2B5EF4-FFF2-40B4-BE49-F238E27FC236}">
                <a16:creationId xmlns:a16="http://schemas.microsoft.com/office/drawing/2014/main" id="{5601E250-253B-5977-E324-90D5561E7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719" y="2040128"/>
            <a:ext cx="5834561" cy="31993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5961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03E71C-7F32-39F4-E179-E626A5DED9FF}"/>
              </a:ext>
            </a:extLst>
          </p:cNvPr>
          <p:cNvSpPr txBox="1"/>
          <p:nvPr/>
        </p:nvSpPr>
        <p:spPr>
          <a:xfrm>
            <a:off x="5170931" y="793742"/>
            <a:ext cx="2686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PROPOSED SYSTEM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F346B-A03F-22E1-B3EE-FC0EA3196FEF}"/>
              </a:ext>
            </a:extLst>
          </p:cNvPr>
          <p:cNvSpPr txBox="1"/>
          <p:nvPr/>
        </p:nvSpPr>
        <p:spPr>
          <a:xfrm>
            <a:off x="1261872" y="1449933"/>
            <a:ext cx="9875520" cy="3133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 system is architected to separate the high-power communication tasks  from low-power monitoring tasks. The block diagram consists of: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Input Stage: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Push-to-call button and MEMS microphone.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Processing Core: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The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ESP32-S3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microcontroller serving as the central hub.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Audio Subsystem: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I2S DAC/Amplifier and a dedicated Audio Codec for G.711 packetization.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Connectivity Layer: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Ethernet (via SPI/Parallel) or Wi-Fi module for SIP server communication.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Power Management Unit (PMU):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A buck converter and battery/PoE management circuit designed to switch between active and ultra-low-power modes.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448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CBE256-08DA-5503-7C58-838AC2C48B31}"/>
              </a:ext>
            </a:extLst>
          </p:cNvPr>
          <p:cNvSpPr txBox="1"/>
          <p:nvPr/>
        </p:nvSpPr>
        <p:spPr>
          <a:xfrm>
            <a:off x="3158193" y="866894"/>
            <a:ext cx="6265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SIP SIGNALLING AND MEDIA FLOW ARCHITECTURE </a:t>
            </a:r>
            <a:endParaRPr lang="en-IN" dirty="0"/>
          </a:p>
        </p:txBody>
      </p:sp>
      <p:pic>
        <p:nvPicPr>
          <p:cNvPr id="4" name="Picture 3" descr="SIP Call setup and Media Path SIP distinguishes between the process of... |  Download Scientific Diagram">
            <a:extLst>
              <a:ext uri="{FF2B5EF4-FFF2-40B4-BE49-F238E27FC236}">
                <a16:creationId xmlns:a16="http://schemas.microsoft.com/office/drawing/2014/main" id="{A643B999-294C-9B94-9441-BD32D3AA7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496" y="1969955"/>
            <a:ext cx="6931152" cy="40211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1043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0448FC-E33B-BB0F-0FBD-8DC19B9E9F65}"/>
              </a:ext>
            </a:extLst>
          </p:cNvPr>
          <p:cNvSpPr txBox="1"/>
          <p:nvPr/>
        </p:nvSpPr>
        <p:spPr>
          <a:xfrm>
            <a:off x="2400300" y="819642"/>
            <a:ext cx="664311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IMPLEMENTATION AND SYSTEM INTEGRATION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0069A6-CC49-006F-C707-0027C37A8FAF}"/>
              </a:ext>
            </a:extLst>
          </p:cNvPr>
          <p:cNvSpPr txBox="1"/>
          <p:nvPr/>
        </p:nvSpPr>
        <p:spPr>
          <a:xfrm>
            <a:off x="1065276" y="1523730"/>
            <a:ext cx="611733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Setting up the SIP Server (Cloud/On-Premise)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How to Set up SIP Trunking in the Cloud">
            <a:extLst>
              <a:ext uri="{FF2B5EF4-FFF2-40B4-BE49-F238E27FC236}">
                <a16:creationId xmlns:a16="http://schemas.microsoft.com/office/drawing/2014/main" id="{84A2D4ED-86DB-2A90-9B67-190049A1D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961" y="2432684"/>
            <a:ext cx="6252835" cy="26970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6009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C292C4-9340-6A35-C653-2171890CE802}"/>
              </a:ext>
            </a:extLst>
          </p:cNvPr>
          <p:cNvSpPr txBox="1"/>
          <p:nvPr/>
        </p:nvSpPr>
        <p:spPr>
          <a:xfrm>
            <a:off x="2912534" y="838946"/>
            <a:ext cx="7302500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SECURITY IMPLEMENTATION (TLS/SRTP FOR SECURE VOIP)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9B971-0C89-E1B2-D0CB-EA5CDF07C122}"/>
              </a:ext>
            </a:extLst>
          </p:cNvPr>
          <p:cNvSpPr txBox="1"/>
          <p:nvPr/>
        </p:nvSpPr>
        <p:spPr>
          <a:xfrm>
            <a:off x="726948" y="1410204"/>
            <a:ext cx="10584180" cy="878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rtl="0">
              <a:lnSpc>
                <a:spcPct val="150000"/>
              </a:lnSpc>
              <a:spcAft>
                <a:spcPts val="80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SIPS (SIP over TLS):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The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signaling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channel was encrypted using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TLS 1.2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ensuring that SIP credentials and call metadata are hidden from the network.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SIP TLS | FreeSWITCH Documentation">
            <a:extLst>
              <a:ext uri="{FF2B5EF4-FFF2-40B4-BE49-F238E27FC236}">
                <a16:creationId xmlns:a16="http://schemas.microsoft.com/office/drawing/2014/main" id="{6AC258E1-001F-ACAF-E904-7AC53A96B0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1" t="43803" r="8586" b="17192"/>
          <a:stretch>
            <a:fillRect/>
          </a:stretch>
        </p:blipFill>
        <p:spPr bwMode="auto">
          <a:xfrm>
            <a:off x="1158336" y="2860357"/>
            <a:ext cx="9768744" cy="22551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43590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3E2B8B-F1EA-475E-3A69-AB5C6B75E755}"/>
              </a:ext>
            </a:extLst>
          </p:cNvPr>
          <p:cNvSpPr txBox="1"/>
          <p:nvPr/>
        </p:nvSpPr>
        <p:spPr>
          <a:xfrm>
            <a:off x="2473452" y="764778"/>
            <a:ext cx="611733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SRTP (SECURE REAL-TIME TRANSPORT PROTOCOL)</a:t>
            </a:r>
            <a:endParaRPr lang="en-IN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SRTP - Secure Real-time Transport Protocol | Adaptive Digital">
            <a:extLst>
              <a:ext uri="{FF2B5EF4-FFF2-40B4-BE49-F238E27FC236}">
                <a16:creationId xmlns:a16="http://schemas.microsoft.com/office/drawing/2014/main" id="{36529C0F-25FA-0C3B-09F0-636EEEC97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316" y="1890235"/>
            <a:ext cx="7474748" cy="34440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6249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EF8AAA-52A8-B558-70A0-16E0E216B518}"/>
              </a:ext>
            </a:extLst>
          </p:cNvPr>
          <p:cNvSpPr txBox="1"/>
          <p:nvPr/>
        </p:nvSpPr>
        <p:spPr>
          <a:xfrm>
            <a:off x="5389626" y="802886"/>
            <a:ext cx="1412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770E1-0792-EDB0-74DE-C1997D119329}"/>
              </a:ext>
            </a:extLst>
          </p:cNvPr>
          <p:cNvSpPr txBox="1"/>
          <p:nvPr/>
        </p:nvSpPr>
        <p:spPr>
          <a:xfrm>
            <a:off x="1097280" y="1415661"/>
            <a:ext cx="10250424" cy="3804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Performance Testing (Call Setup Time, Audio Quality)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	The system’s responsiveness was evaluated to ensure that energy-saving 	modes did 	not degrade user experience.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Call Setup Time: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The duration from "Button Press" (waking from Deep Sleep) to "Phone Ringing" was measured. The system achieved an average setup time of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1.4 seconds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This includes hardware wake-up, SIP registration, and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signaling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via the PBX.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Audio Quality: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Voice clarity was assessed using the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Mean Opinion Score (MOS)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Utilizing the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G.711 codec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the system maintained a MOS of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4.1/5.0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providing clear, "toll-quality" audio comparable to traditional landline systems.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904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D7DE2C-790F-E146-260A-DB893846526E}"/>
              </a:ext>
            </a:extLst>
          </p:cNvPr>
          <p:cNvSpPr txBox="1"/>
          <p:nvPr/>
        </p:nvSpPr>
        <p:spPr>
          <a:xfrm>
            <a:off x="1896533" y="770096"/>
            <a:ext cx="9076267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COMPARATIVE RESULTS: PROPOSED SYSTEM VS. STANDARD IP INTERCOMS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A32DC3-FB3A-CC9A-0C92-78280B34E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316897"/>
              </p:ext>
            </p:extLst>
          </p:nvPr>
        </p:nvGraphicFramePr>
        <p:xfrm>
          <a:off x="2820924" y="1810512"/>
          <a:ext cx="6889750" cy="37665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4906">
                  <a:extLst>
                    <a:ext uri="{9D8B030D-6E8A-4147-A177-3AD203B41FA5}">
                      <a16:colId xmlns:a16="http://schemas.microsoft.com/office/drawing/2014/main" val="1982661784"/>
                    </a:ext>
                  </a:extLst>
                </a:gridCol>
                <a:gridCol w="1953447">
                  <a:extLst>
                    <a:ext uri="{9D8B030D-6E8A-4147-A177-3AD203B41FA5}">
                      <a16:colId xmlns:a16="http://schemas.microsoft.com/office/drawing/2014/main" val="13220020"/>
                    </a:ext>
                  </a:extLst>
                </a:gridCol>
                <a:gridCol w="1608149">
                  <a:extLst>
                    <a:ext uri="{9D8B030D-6E8A-4147-A177-3AD203B41FA5}">
                      <a16:colId xmlns:a16="http://schemas.microsoft.com/office/drawing/2014/main" val="925262627"/>
                    </a:ext>
                  </a:extLst>
                </a:gridCol>
                <a:gridCol w="1723248">
                  <a:extLst>
                    <a:ext uri="{9D8B030D-6E8A-4147-A177-3AD203B41FA5}">
                      <a16:colId xmlns:a16="http://schemas.microsoft.com/office/drawing/2014/main" val="50495556"/>
                    </a:ext>
                  </a:extLst>
                </a:gridCol>
              </a:tblGrid>
              <a:tr h="7856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76200" marB="762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Standard IP Intercom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76200" marB="762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Proposed SIP System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76200" marB="762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Improvement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/>
                </a:tc>
                <a:extLst>
                  <a:ext uri="{0D108BD9-81ED-4DB2-BD59-A6C34878D82A}">
                    <a16:rowId xmlns:a16="http://schemas.microsoft.com/office/drawing/2014/main" val="2607925391"/>
                  </a:ext>
                </a:extLst>
              </a:tr>
              <a:tr h="5983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Idle Power Draw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4.5W - 7.0W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0.00004W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~99% Reduction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14300" marB="114300"/>
                </a:tc>
                <a:extLst>
                  <a:ext uri="{0D108BD9-81ED-4DB2-BD59-A6C34878D82A}">
                    <a16:rowId xmlns:a16="http://schemas.microsoft.com/office/drawing/2014/main" val="3294250504"/>
                  </a:ext>
                </a:extLst>
              </a:tr>
              <a:tr h="8920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Active Power Draw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8.0W - 12.0W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0.6W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~92% Reduction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14300" marB="114300"/>
                </a:tc>
                <a:extLst>
                  <a:ext uri="{0D108BD9-81ED-4DB2-BD59-A6C34878D82A}">
                    <a16:rowId xmlns:a16="http://schemas.microsoft.com/office/drawing/2014/main" val="545430109"/>
                  </a:ext>
                </a:extLst>
              </a:tr>
              <a:tr h="8920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Boot/Wake Time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Always On (or 30s Boot)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1.4s (Wake)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Optimized for Event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14300" marB="114300"/>
                </a:tc>
                <a:extLst>
                  <a:ext uri="{0D108BD9-81ED-4DB2-BD59-A6C34878D82A}">
                    <a16:rowId xmlns:a16="http://schemas.microsoft.com/office/drawing/2014/main" val="3397268572"/>
                  </a:ext>
                </a:extLst>
              </a:tr>
              <a:tr h="5983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Operating Temp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45°C (Warm to touch)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Ambient (Cool)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Increased Longevity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14300" marB="114300"/>
                </a:tc>
                <a:extLst>
                  <a:ext uri="{0D108BD9-81ED-4DB2-BD59-A6C34878D82A}">
                    <a16:rowId xmlns:a16="http://schemas.microsoft.com/office/drawing/2014/main" val="3507377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785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208761-83F8-15E6-967A-E2B848A0360A}"/>
              </a:ext>
            </a:extLst>
          </p:cNvPr>
          <p:cNvSpPr txBox="1"/>
          <p:nvPr/>
        </p:nvSpPr>
        <p:spPr>
          <a:xfrm>
            <a:off x="952500" y="1062457"/>
            <a:ext cx="10287000" cy="432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LIMITATIONS AND FUTURE WORK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Despite the successful implementation, certain limitations were identified that 		provide a roadmap for future research: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Network Dependency: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The system’s reliance on a central SIP server means that a local network failure can disrupt communication. Future work could include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Peer-to-Peer (P2P)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backup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signaling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Video Integration: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While audio is optimized, adding low-power video streaming (H.264/H.265) remains a challenge for the energy budget. Future iterations could explore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AI-driven Power Management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where the camera and display only activate when the AI detects a human presence near the station.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AI Noise Cancellation: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Implementing lightweight machine learning models to filter out street and wind noise directly on the MCU would further improve audio clarity in harsh outdoor environments.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032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78BC2D-B656-B096-A330-D26623CC6CBD}"/>
              </a:ext>
            </a:extLst>
          </p:cNvPr>
          <p:cNvSpPr txBox="1"/>
          <p:nvPr/>
        </p:nvSpPr>
        <p:spPr>
          <a:xfrm>
            <a:off x="4960620" y="793742"/>
            <a:ext cx="1888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CONCLUSION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FAA08-DFBE-FAAF-869E-5F45EE9BD3BB}"/>
              </a:ext>
            </a:extLst>
          </p:cNvPr>
          <p:cNvSpPr txBox="1"/>
          <p:nvPr/>
        </p:nvSpPr>
        <p:spPr>
          <a:xfrm>
            <a:off x="715518" y="1470502"/>
            <a:ext cx="10378440" cy="4305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Energy-Efficient SIP-Based VoIP Intercom System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successfully bridges the gap between high-performance digital communication and sustainable building practices. Throughout this project, we designed and implemented an intercom station that utilizes the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Session Initiation Protocol (SIP)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to provide full-duplex, high-quality audio communication over IP networks.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By replacing power-hungry, Linux-based single-board computers with a specialized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low-power microcontroller (ESP32-S3)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and implementing a tiered sleep-to-wake state machine, the project achieved its core objective: maintaining professional-grade VoIP functionality with a minimal power footprint. The system successfully integrates with standard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PBX servers (Asterisk)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and mobile applications, proving that open-source standards can deliver enterprise-level security and reliability in an energy-conscious package.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774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DC5DFFC-1517-D07F-EF6E-AA63AE3442FA}"/>
              </a:ext>
            </a:extLst>
          </p:cNvPr>
          <p:cNvGrpSpPr/>
          <p:nvPr/>
        </p:nvGrpSpPr>
        <p:grpSpPr>
          <a:xfrm>
            <a:off x="993819" y="786384"/>
            <a:ext cx="10198438" cy="5084065"/>
            <a:chOff x="618914" y="855981"/>
            <a:chExt cx="10811527" cy="441315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3936289-29BC-8E0F-99F8-FE60E4EC07E9}"/>
                </a:ext>
              </a:extLst>
            </p:cNvPr>
            <p:cNvSpPr txBox="1"/>
            <p:nvPr/>
          </p:nvSpPr>
          <p:spPr>
            <a:xfrm>
              <a:off x="4190852" y="855981"/>
              <a:ext cx="3673932" cy="347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ea typeface="Cambria" panose="02040503050406030204" pitchFamily="18" charset="0"/>
                  <a:cs typeface="Times New Roman" panose="02020603050405020304" pitchFamily="18" charset="0"/>
                </a:rPr>
                <a:t>PROJECT TIME LINE</a:t>
              </a:r>
              <a:endParaRPr lang="en-IN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DF3193C-CCAB-6F20-943D-0A24B810A4FF}"/>
                </a:ext>
              </a:extLst>
            </p:cNvPr>
            <p:cNvSpPr txBox="1"/>
            <p:nvPr/>
          </p:nvSpPr>
          <p:spPr>
            <a:xfrm>
              <a:off x="618914" y="4046482"/>
              <a:ext cx="2336800" cy="1041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FEBRUARY</a:t>
              </a:r>
            </a:p>
            <a:p>
              <a:r>
                <a:rPr lang="en-US" dirty="0"/>
                <a:t>PROJECT PLANING</a:t>
              </a:r>
            </a:p>
            <a:p>
              <a:r>
                <a:rPr lang="en-US" dirty="0"/>
                <a:t>AND RESEARCH</a:t>
              </a:r>
              <a:endParaRPr lang="en-IN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41799EE-3BFE-6429-6122-BD9064DC6648}"/>
                </a:ext>
              </a:extLst>
            </p:cNvPr>
            <p:cNvSpPr txBox="1"/>
            <p:nvPr/>
          </p:nvSpPr>
          <p:spPr>
            <a:xfrm>
              <a:off x="2727114" y="2692956"/>
              <a:ext cx="247057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MARCH</a:t>
              </a:r>
            </a:p>
            <a:p>
              <a:r>
                <a:rPr lang="en-US" dirty="0"/>
                <a:t>SYSTEM DEVELOPMENT</a:t>
              </a:r>
            </a:p>
            <a:p>
              <a:r>
                <a:rPr lang="en-US" dirty="0"/>
                <a:t>AND INTEGRATION</a:t>
              </a:r>
              <a:endParaRPr lang="en-IN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24F24B8-A546-7227-4E2F-BCC3A968595D}"/>
                </a:ext>
              </a:extLst>
            </p:cNvPr>
            <p:cNvSpPr txBox="1"/>
            <p:nvPr/>
          </p:nvSpPr>
          <p:spPr>
            <a:xfrm>
              <a:off x="5003517" y="2013862"/>
              <a:ext cx="3226083" cy="801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APRIL</a:t>
              </a:r>
            </a:p>
            <a:p>
              <a:r>
                <a:rPr lang="en-US"/>
                <a:t>TESTING, OPTIMIZATION</a:t>
              </a:r>
              <a:endParaRPr lang="en-US" dirty="0"/>
            </a:p>
            <a:p>
              <a:r>
                <a:rPr lang="en-US" dirty="0"/>
                <a:t>AND DEVELOPMENT</a:t>
              </a:r>
              <a:endParaRPr lang="en-IN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1F20DE-CAB8-E2B4-EEDC-12FDB0B2ADE2}"/>
                </a:ext>
              </a:extLst>
            </p:cNvPr>
            <p:cNvSpPr txBox="1"/>
            <p:nvPr/>
          </p:nvSpPr>
          <p:spPr>
            <a:xfrm>
              <a:off x="8896774" y="1266790"/>
              <a:ext cx="2533667" cy="801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MAY</a:t>
              </a:r>
            </a:p>
            <a:p>
              <a:r>
                <a:rPr lang="en-US" dirty="0"/>
                <a:t>DOCUMENTATION AND RESULT</a:t>
              </a:r>
              <a:endParaRPr lang="en-IN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5D298A1-EBE6-7824-8D4F-BF0A12CB788B}"/>
                </a:ext>
              </a:extLst>
            </p:cNvPr>
            <p:cNvSpPr/>
            <p:nvPr/>
          </p:nvSpPr>
          <p:spPr>
            <a:xfrm>
              <a:off x="1335617" y="5126567"/>
              <a:ext cx="146050" cy="142564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945A2FB-0A1E-A5FB-52AB-0E02F2188B33}"/>
                </a:ext>
              </a:extLst>
            </p:cNvPr>
            <p:cNvSpPr/>
            <p:nvPr/>
          </p:nvSpPr>
          <p:spPr>
            <a:xfrm>
              <a:off x="3180080" y="4096742"/>
              <a:ext cx="447040" cy="476766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0D3AEBD-9D5C-82BD-D498-843062C50DDE}"/>
                </a:ext>
              </a:extLst>
            </p:cNvPr>
            <p:cNvSpPr/>
            <p:nvPr/>
          </p:nvSpPr>
          <p:spPr>
            <a:xfrm>
              <a:off x="5552440" y="3194983"/>
              <a:ext cx="701040" cy="719574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768CD3F-9BB2-B2F6-7C6E-654A92397A3F}"/>
                </a:ext>
              </a:extLst>
            </p:cNvPr>
            <p:cNvSpPr/>
            <p:nvPr/>
          </p:nvSpPr>
          <p:spPr>
            <a:xfrm>
              <a:off x="8229600" y="2001798"/>
              <a:ext cx="894080" cy="923330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30463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956623-8D3A-D474-EF08-E2512810A89D}"/>
              </a:ext>
            </a:extLst>
          </p:cNvPr>
          <p:cNvSpPr txBox="1"/>
          <p:nvPr/>
        </p:nvSpPr>
        <p:spPr>
          <a:xfrm>
            <a:off x="5179314" y="757166"/>
            <a:ext cx="183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REFERENCES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C3A94-BC5B-64DC-0A92-41F2EDD4A60A}"/>
              </a:ext>
            </a:extLst>
          </p:cNvPr>
          <p:cNvSpPr txBox="1"/>
          <p:nvPr/>
        </p:nvSpPr>
        <p:spPr>
          <a:xfrm>
            <a:off x="851916" y="1341587"/>
            <a:ext cx="10488168" cy="446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Rosenberg, J., et al.</a:t>
            </a: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(2002). "SIP: Session Initiation Protocol." </a:t>
            </a:r>
            <a:r>
              <a:rPr lang="en-IN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IETF RFC 3261</a:t>
            </a: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 Available online.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Schulzrinne</a:t>
            </a:r>
            <a:r>
              <a:rPr lang="en-IN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H., et al.</a:t>
            </a: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(2003). "RTP: A Transport Protocol for Real-Time Applications." </a:t>
            </a:r>
            <a:r>
              <a:rPr lang="en-IN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IETF RFC 3550</a:t>
            </a: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Espressif</a:t>
            </a:r>
            <a:r>
              <a:rPr lang="en-IN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Systems.</a:t>
            </a: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(2023). "ESP32-S3 Series Datasheet v1.6." Available online.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PJSIP Project.</a:t>
            </a: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(2023). "PJSIP Documentation: Open Source SIP, Media, and NAT Traversal Library." Available online.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Ito, K., &amp; Nakajima, T.</a:t>
            </a: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(2012). "Power Management for VoIP over Wireless LANs." </a:t>
            </a:r>
            <a:r>
              <a:rPr lang="en-IN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International Journal of Computer Science and Network Security</a:t>
            </a: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Asterisk Project.</a:t>
            </a: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(2023). "The Definitive Guide to Asterisk Architecture." Available online.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ITU-T Recommendation G.711.</a:t>
            </a: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(1988). "Pulse Code Modulation (PCM) of Voice Frequencies." </a:t>
            </a:r>
            <a:r>
              <a:rPr lang="en-IN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International Telecommunication Union</a:t>
            </a: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Valenti, S., et al.</a:t>
            </a: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(2018). "Energy-Efficient IoT Communication via VoIP Protocols." </a:t>
            </a:r>
            <a:r>
              <a:rPr lang="en-IN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IEEE Internet of Things Journal</a:t>
            </a: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7707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50</TotalTime>
  <Words>1427</Words>
  <Application>Microsoft Office PowerPoint</Application>
  <PresentationFormat>Widescreen</PresentationFormat>
  <Paragraphs>122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</vt:lpstr>
      <vt:lpstr>Garamond</vt:lpstr>
      <vt:lpstr>Symbol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ANANDH ENIYAN</dc:creator>
  <cp:lastModifiedBy>ANANDH ENIYAN</cp:lastModifiedBy>
  <cp:revision>18</cp:revision>
  <dcterms:created xsi:type="dcterms:W3CDTF">2026-03-28T05:28:15Z</dcterms:created>
  <dcterms:modified xsi:type="dcterms:W3CDTF">2026-04-06T07:23:41Z</dcterms:modified>
</cp:coreProperties>
</file>